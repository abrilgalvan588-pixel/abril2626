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relia" charset="1" panose="00000500000000000000"/>
      <p:regular r:id="rId13"/>
    </p:embeddedFont>
    <p:embeddedFont>
      <p:font typeface="Montserrat Bold" charset="1" panose="00000800000000000000"/>
      <p:regular r:id="rId14"/>
    </p:embeddedFont>
    <p:embeddedFont>
      <p:font typeface="Montserrat" charset="1" panose="00000500000000000000"/>
      <p:regular r:id="rId15"/>
    </p:embeddedFont>
    <p:embeddedFont>
      <p:font typeface="Open Sans Bold" charset="1" panose="020B08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12" Target="../media/image44.png" Type="http://schemas.openxmlformats.org/officeDocument/2006/relationships/image"/><Relationship Id="rId13" Target="../media/image45.svg" Type="http://schemas.openxmlformats.org/officeDocument/2006/relationships/image"/><Relationship Id="rId14" Target="../media/image46.png" Type="http://schemas.openxmlformats.org/officeDocument/2006/relationships/image"/><Relationship Id="rId15" Target="../media/image4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30282" y="1013776"/>
            <a:ext cx="7827435" cy="7827435"/>
          </a:xfrm>
          <a:custGeom>
            <a:avLst/>
            <a:gdLst/>
            <a:ahLst/>
            <a:cxnLst/>
            <a:rect r="r" b="b" t="t" l="l"/>
            <a:pathLst>
              <a:path h="7827435" w="7827435">
                <a:moveTo>
                  <a:pt x="0" y="0"/>
                </a:moveTo>
                <a:lnTo>
                  <a:pt x="7827436" y="0"/>
                </a:lnTo>
                <a:lnTo>
                  <a:pt x="7827436" y="7827435"/>
                </a:lnTo>
                <a:lnTo>
                  <a:pt x="0" y="7827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63710" y="6681356"/>
            <a:ext cx="4160580" cy="461446"/>
          </a:xfrm>
          <a:custGeom>
            <a:avLst/>
            <a:gdLst/>
            <a:ahLst/>
            <a:cxnLst/>
            <a:rect r="r" b="b" t="t" l="l"/>
            <a:pathLst>
              <a:path h="461446" w="4160580">
                <a:moveTo>
                  <a:pt x="0" y="0"/>
                </a:moveTo>
                <a:lnTo>
                  <a:pt x="4160580" y="0"/>
                </a:lnTo>
                <a:lnTo>
                  <a:pt x="4160580" y="461446"/>
                </a:lnTo>
                <a:lnTo>
                  <a:pt x="0" y="461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lg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186949" y="5692666"/>
            <a:ext cx="5009073" cy="4744958"/>
          </a:xfrm>
          <a:custGeom>
            <a:avLst/>
            <a:gdLst/>
            <a:ahLst/>
            <a:cxnLst/>
            <a:rect r="r" b="b" t="t" l="l"/>
            <a:pathLst>
              <a:path h="4744958" w="5009073">
                <a:moveTo>
                  <a:pt x="0" y="0"/>
                </a:moveTo>
                <a:lnTo>
                  <a:pt x="5009074" y="0"/>
                </a:lnTo>
                <a:lnTo>
                  <a:pt x="5009074" y="4744959"/>
                </a:lnTo>
                <a:lnTo>
                  <a:pt x="0" y="47449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77941">
            <a:off x="-652915" y="6859018"/>
            <a:ext cx="4402996" cy="4114800"/>
          </a:xfrm>
          <a:custGeom>
            <a:avLst/>
            <a:gdLst/>
            <a:ahLst/>
            <a:cxnLst/>
            <a:rect r="r" b="b" t="t" l="l"/>
            <a:pathLst>
              <a:path h="4114800" w="4402996">
                <a:moveTo>
                  <a:pt x="0" y="0"/>
                </a:moveTo>
                <a:lnTo>
                  <a:pt x="4402997" y="0"/>
                </a:lnTo>
                <a:lnTo>
                  <a:pt x="44029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20981" y="-711888"/>
            <a:ext cx="3725764" cy="4114800"/>
          </a:xfrm>
          <a:custGeom>
            <a:avLst/>
            <a:gdLst/>
            <a:ahLst/>
            <a:cxnLst/>
            <a:rect r="r" b="b" t="t" l="l"/>
            <a:pathLst>
              <a:path h="4114800" w="3725764">
                <a:moveTo>
                  <a:pt x="0" y="0"/>
                </a:moveTo>
                <a:lnTo>
                  <a:pt x="3725764" y="0"/>
                </a:lnTo>
                <a:lnTo>
                  <a:pt x="3725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86048" y="7548011"/>
            <a:ext cx="2834933" cy="2572057"/>
          </a:xfrm>
          <a:custGeom>
            <a:avLst/>
            <a:gdLst/>
            <a:ahLst/>
            <a:cxnLst/>
            <a:rect r="r" b="b" t="t" l="l"/>
            <a:pathLst>
              <a:path h="2572057" w="2834933">
                <a:moveTo>
                  <a:pt x="0" y="0"/>
                </a:moveTo>
                <a:lnTo>
                  <a:pt x="2834933" y="0"/>
                </a:lnTo>
                <a:lnTo>
                  <a:pt x="2834933" y="2572058"/>
                </a:lnTo>
                <a:lnTo>
                  <a:pt x="0" y="25720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7185">
            <a:off x="3102614" y="7394046"/>
            <a:ext cx="2551459" cy="2688319"/>
          </a:xfrm>
          <a:custGeom>
            <a:avLst/>
            <a:gdLst/>
            <a:ahLst/>
            <a:cxnLst/>
            <a:rect r="r" b="b" t="t" l="l"/>
            <a:pathLst>
              <a:path h="2688319" w="2551459">
                <a:moveTo>
                  <a:pt x="0" y="0"/>
                </a:moveTo>
                <a:lnTo>
                  <a:pt x="2551460" y="0"/>
                </a:lnTo>
                <a:lnTo>
                  <a:pt x="2551460" y="2688319"/>
                </a:lnTo>
                <a:lnTo>
                  <a:pt x="0" y="26883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72354" y="-711888"/>
            <a:ext cx="3739373" cy="3739373"/>
          </a:xfrm>
          <a:custGeom>
            <a:avLst/>
            <a:gdLst/>
            <a:ahLst/>
            <a:cxnLst/>
            <a:rect r="r" b="b" t="t" l="l"/>
            <a:pathLst>
              <a:path h="3739373" w="3739373">
                <a:moveTo>
                  <a:pt x="0" y="0"/>
                </a:moveTo>
                <a:lnTo>
                  <a:pt x="3739373" y="0"/>
                </a:lnTo>
                <a:lnTo>
                  <a:pt x="3739373" y="3739374"/>
                </a:lnTo>
                <a:lnTo>
                  <a:pt x="0" y="373937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11544" y="393838"/>
            <a:ext cx="1889507" cy="1903349"/>
          </a:xfrm>
          <a:custGeom>
            <a:avLst/>
            <a:gdLst/>
            <a:ahLst/>
            <a:cxnLst/>
            <a:rect r="r" b="b" t="t" l="l"/>
            <a:pathLst>
              <a:path h="1903349" w="1889507">
                <a:moveTo>
                  <a:pt x="0" y="0"/>
                </a:moveTo>
                <a:lnTo>
                  <a:pt x="1889507" y="0"/>
                </a:lnTo>
                <a:lnTo>
                  <a:pt x="1889507" y="1903349"/>
                </a:lnTo>
                <a:lnTo>
                  <a:pt x="0" y="19033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617930">
            <a:off x="14980542" y="330918"/>
            <a:ext cx="1413053" cy="2029188"/>
          </a:xfrm>
          <a:custGeom>
            <a:avLst/>
            <a:gdLst/>
            <a:ahLst/>
            <a:cxnLst/>
            <a:rect r="r" b="b" t="t" l="l"/>
            <a:pathLst>
              <a:path h="2029188" w="1413053">
                <a:moveTo>
                  <a:pt x="0" y="0"/>
                </a:moveTo>
                <a:lnTo>
                  <a:pt x="1413052" y="0"/>
                </a:lnTo>
                <a:lnTo>
                  <a:pt x="1413052" y="2029188"/>
                </a:lnTo>
                <a:lnTo>
                  <a:pt x="0" y="202918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424499"/>
            <a:ext cx="16516561" cy="283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63"/>
              </a:lnSpc>
            </a:pPr>
            <a:r>
              <a:rPr lang="en-US" sz="11435" spc="-194">
                <a:solidFill>
                  <a:srgbClr val="171C24"/>
                </a:solidFill>
                <a:latin typeface="Carelia"/>
                <a:ea typeface="Carelia"/>
                <a:cs typeface="Carelia"/>
                <a:sym typeface="Carelia"/>
              </a:rPr>
              <a:t>Reporte de análisis de caso 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95884" y="4279796"/>
            <a:ext cx="10496233" cy="214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8"/>
              </a:lnSpc>
            </a:pPr>
            <a:r>
              <a:rPr lang="en-US" b="true" sz="411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ASIGNATURA: BASE DE DATOS </a:t>
            </a:r>
          </a:p>
          <a:p>
            <a:pPr algn="ctr">
              <a:lnSpc>
                <a:spcPts val="5758"/>
              </a:lnSpc>
            </a:pPr>
            <a:r>
              <a:rPr lang="en-US" b="true" sz="411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DOCENTE: ING. JOSE LUIS HERRERA GALLARDO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88114" y="7262878"/>
            <a:ext cx="6197733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INTEGRANTES: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Abril Perez Galvan (25300634)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Maricruz Jimenez Nuñez (25300637)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Ximena Miguel García (25300652)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5502" y="9764438"/>
            <a:ext cx="4160580" cy="461446"/>
          </a:xfrm>
          <a:custGeom>
            <a:avLst/>
            <a:gdLst/>
            <a:ahLst/>
            <a:cxnLst/>
            <a:rect r="r" b="b" t="t" l="l"/>
            <a:pathLst>
              <a:path h="461446" w="4160580">
                <a:moveTo>
                  <a:pt x="0" y="0"/>
                </a:moveTo>
                <a:lnTo>
                  <a:pt x="4160580" y="0"/>
                </a:lnTo>
                <a:lnTo>
                  <a:pt x="4160580" y="461446"/>
                </a:lnTo>
                <a:lnTo>
                  <a:pt x="0" y="46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74590" y="874005"/>
            <a:ext cx="4919870" cy="4114800"/>
          </a:xfrm>
          <a:custGeom>
            <a:avLst/>
            <a:gdLst/>
            <a:ahLst/>
            <a:cxnLst/>
            <a:rect r="r" b="b" t="t" l="l"/>
            <a:pathLst>
              <a:path h="4114800" w="4919870">
                <a:moveTo>
                  <a:pt x="0" y="0"/>
                </a:moveTo>
                <a:lnTo>
                  <a:pt x="4919870" y="0"/>
                </a:lnTo>
                <a:lnTo>
                  <a:pt x="49198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11963" y="3331894"/>
            <a:ext cx="8340304" cy="8340304"/>
          </a:xfrm>
          <a:custGeom>
            <a:avLst/>
            <a:gdLst/>
            <a:ahLst/>
            <a:cxnLst/>
            <a:rect r="r" b="b" t="t" l="l"/>
            <a:pathLst>
              <a:path h="8340304" w="8340304">
                <a:moveTo>
                  <a:pt x="0" y="0"/>
                </a:moveTo>
                <a:lnTo>
                  <a:pt x="8340304" y="0"/>
                </a:lnTo>
                <a:lnTo>
                  <a:pt x="8340304" y="8340304"/>
                </a:lnTo>
                <a:lnTo>
                  <a:pt x="0" y="8340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74710" y="7502046"/>
            <a:ext cx="2934338" cy="2784954"/>
          </a:xfrm>
          <a:custGeom>
            <a:avLst/>
            <a:gdLst/>
            <a:ahLst/>
            <a:cxnLst/>
            <a:rect r="r" b="b" t="t" l="l"/>
            <a:pathLst>
              <a:path h="2784954" w="2934338">
                <a:moveTo>
                  <a:pt x="0" y="0"/>
                </a:moveTo>
                <a:lnTo>
                  <a:pt x="2934339" y="0"/>
                </a:lnTo>
                <a:lnTo>
                  <a:pt x="2934339" y="2784954"/>
                </a:lnTo>
                <a:lnTo>
                  <a:pt x="0" y="27849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2600" y="1914135"/>
            <a:ext cx="8395093" cy="193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959"/>
              </a:lnSpc>
              <a:buFont typeface="Arial"/>
              <a:buChar char="•"/>
            </a:pPr>
            <a:r>
              <a:rPr lang="en-US" b="true" sz="2400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Una universidad ofrece cursos extracurriculares. El problema  es que la universidad usa </a:t>
            </a:r>
            <a:r>
              <a:rPr lang="en-US" b="true" sz="2400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formularios impresos para inscribir alumnos a cursos como inglés, programación o robótica.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2600" y="372664"/>
            <a:ext cx="1010053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Descripción del problema.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8907" y="4684193"/>
            <a:ext cx="8395093" cy="441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2400" b="true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Generando estos problemas:</a:t>
            </a:r>
          </a:p>
          <a:p>
            <a:pPr algn="just">
              <a:lnSpc>
                <a:spcPts val="3959"/>
              </a:lnSpc>
            </a:pPr>
          </a:p>
          <a:p>
            <a:pPr algn="just">
              <a:lnSpc>
                <a:spcPts val="3959"/>
              </a:lnSpc>
            </a:pPr>
            <a:r>
              <a:rPr lang="en-US" sz="2400" b="true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Inscripciones manejadas con formularios impresos</a:t>
            </a:r>
          </a:p>
          <a:p>
            <a:pPr algn="just">
              <a:lnSpc>
                <a:spcPts val="3959"/>
              </a:lnSpc>
            </a:pPr>
            <a:r>
              <a:rPr lang="en-US" sz="2400" b="true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* No se conoce el número exacto de alumnos por curso</a:t>
            </a:r>
          </a:p>
          <a:p>
            <a:pPr algn="just">
              <a:lnSpc>
                <a:spcPts val="3959"/>
              </a:lnSpc>
            </a:pPr>
            <a:r>
              <a:rPr lang="en-US" sz="2400" b="true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* Dificultad para controlar cupos</a:t>
            </a:r>
          </a:p>
          <a:p>
            <a:pPr algn="just">
              <a:lnSpc>
                <a:spcPts val="3959"/>
              </a:lnSpc>
            </a:pPr>
            <a:r>
              <a:rPr lang="en-US" sz="2400" b="true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* Empalme de horarios</a:t>
            </a:r>
          </a:p>
          <a:p>
            <a:pPr algn="just">
              <a:lnSpc>
                <a:spcPts val="3959"/>
              </a:lnSpc>
            </a:pPr>
            <a:r>
              <a:rPr lang="en-US" sz="2400" b="true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* Información desorganizada</a:t>
            </a:r>
          </a:p>
          <a:p>
            <a:pPr algn="just">
              <a:lnSpc>
                <a:spcPts val="39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054660" y="5607446"/>
            <a:ext cx="5204640" cy="342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9"/>
              </a:lnSpc>
            </a:pPr>
            <a:r>
              <a:rPr lang="en-US" b="true" sz="2400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Una base de datos permitiría centralizar la información logrando identificar correctamente las entidades, atributos, relaciones y procesos para las inscripciones  siendo mas factible.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39651" y="7795969"/>
            <a:ext cx="9355306" cy="9355306"/>
          </a:xfrm>
          <a:custGeom>
            <a:avLst/>
            <a:gdLst/>
            <a:ahLst/>
            <a:cxnLst/>
            <a:rect r="r" b="b" t="t" l="l"/>
            <a:pathLst>
              <a:path h="9355306" w="9355306">
                <a:moveTo>
                  <a:pt x="0" y="0"/>
                </a:moveTo>
                <a:lnTo>
                  <a:pt x="9355307" y="0"/>
                </a:lnTo>
                <a:lnTo>
                  <a:pt x="9355307" y="9355307"/>
                </a:lnTo>
                <a:lnTo>
                  <a:pt x="0" y="9355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21086" y="2786591"/>
            <a:ext cx="11833368" cy="7500409"/>
            <a:chOff x="0" y="0"/>
            <a:chExt cx="1282352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2352" cy="812800"/>
            </a:xfrm>
            <a:custGeom>
              <a:avLst/>
              <a:gdLst/>
              <a:ahLst/>
              <a:cxnLst/>
              <a:rect r="r" b="b" t="t" l="l"/>
              <a:pathLst>
                <a:path h="812800" w="1282352">
                  <a:moveTo>
                    <a:pt x="18319" y="0"/>
                  </a:moveTo>
                  <a:lnTo>
                    <a:pt x="1264033" y="0"/>
                  </a:lnTo>
                  <a:cubicBezTo>
                    <a:pt x="1268891" y="0"/>
                    <a:pt x="1273551" y="1930"/>
                    <a:pt x="1276986" y="5365"/>
                  </a:cubicBezTo>
                  <a:cubicBezTo>
                    <a:pt x="1280422" y="8801"/>
                    <a:pt x="1282352" y="13460"/>
                    <a:pt x="1282352" y="18319"/>
                  </a:cubicBezTo>
                  <a:lnTo>
                    <a:pt x="1282352" y="794481"/>
                  </a:lnTo>
                  <a:cubicBezTo>
                    <a:pt x="1282352" y="804598"/>
                    <a:pt x="1274150" y="812800"/>
                    <a:pt x="1264033" y="812800"/>
                  </a:cubicBezTo>
                  <a:lnTo>
                    <a:pt x="18319" y="812800"/>
                  </a:lnTo>
                  <a:cubicBezTo>
                    <a:pt x="13460" y="812800"/>
                    <a:pt x="8801" y="810870"/>
                    <a:pt x="5365" y="807435"/>
                  </a:cubicBezTo>
                  <a:cubicBezTo>
                    <a:pt x="1930" y="803999"/>
                    <a:pt x="0" y="799340"/>
                    <a:pt x="0" y="794481"/>
                  </a:cubicBezTo>
                  <a:lnTo>
                    <a:pt x="0" y="18319"/>
                  </a:lnTo>
                  <a:cubicBezTo>
                    <a:pt x="0" y="13460"/>
                    <a:pt x="1930" y="8801"/>
                    <a:pt x="5365" y="5365"/>
                  </a:cubicBezTo>
                  <a:cubicBezTo>
                    <a:pt x="8801" y="1930"/>
                    <a:pt x="13460" y="0"/>
                    <a:pt x="1831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557" r="0" b="-2557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852695" y="331840"/>
            <a:ext cx="1500862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Necesidades de información y usuarios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57743" y="1556358"/>
            <a:ext cx="14360055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959"/>
              </a:lnSpc>
              <a:buFont typeface="Arial"/>
              <a:buChar char="•"/>
            </a:pPr>
            <a:r>
              <a:rPr lang="en-US" b="true" sz="2400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 el correcto funcionamiento, es necesario almacenar y gestionar estos datos:</a:t>
            </a:r>
          </a:p>
          <a:p>
            <a:pPr algn="l">
              <a:lnSpc>
                <a:spcPts val="395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3161" y="9091222"/>
            <a:ext cx="6069381" cy="673149"/>
          </a:xfrm>
          <a:custGeom>
            <a:avLst/>
            <a:gdLst/>
            <a:ahLst/>
            <a:cxnLst/>
            <a:rect r="r" b="b" t="t" l="l"/>
            <a:pathLst>
              <a:path h="673149" w="6069381">
                <a:moveTo>
                  <a:pt x="0" y="0"/>
                </a:moveTo>
                <a:lnTo>
                  <a:pt x="6069381" y="0"/>
                </a:lnTo>
                <a:lnTo>
                  <a:pt x="6069381" y="673150"/>
                </a:lnTo>
                <a:lnTo>
                  <a:pt x="0" y="673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39194" y="2478283"/>
          <a:ext cx="11013069" cy="5667375"/>
        </p:xfrm>
        <a:graphic>
          <a:graphicData uri="http://schemas.openxmlformats.org/drawingml/2006/table">
            <a:tbl>
              <a:tblPr/>
              <a:tblGrid>
                <a:gridCol w="3651181"/>
                <a:gridCol w="7361887"/>
              </a:tblGrid>
              <a:tr h="8950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TABLAS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ATRIBUTOS PRINCIPALES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71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ALUMNOS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Matricula  (identificador único), nombre, carrera, grupo, 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correo, teléfono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0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DOCENTES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id_docente (identificador único), nombre, especialidad, correo institucional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45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CURSOS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id_curso (identificador único), nombre, descripción, duración, cupo_maximo, horario_dia, hora_inicio, hora_fin, id_docente (referencia a docentes)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45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INSCRIPCIONES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id_inscripcion (identificador único), matricula (referencia a alumnos), id_curso (referencia a Cursos), fecha_inscripcion, estado (activa / baja / en proceso)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098292" y="904875"/>
            <a:ext cx="102377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Posibles tablas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17735" y="2233120"/>
            <a:ext cx="5431133" cy="169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2"/>
              </a:lnSpc>
            </a:pPr>
            <a:r>
              <a:rPr lang="en-US" sz="4837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Funcion de las tablas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36080" y="4249933"/>
            <a:ext cx="5712788" cy="384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4434" indent="-297217" lvl="1">
              <a:lnSpc>
                <a:spcPts val="6277"/>
              </a:lnSpc>
              <a:buFont typeface="Arial"/>
              <a:buChar char="•"/>
            </a:pPr>
            <a:r>
              <a:rPr lang="en-US" sz="2753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Guardar información organizada</a:t>
            </a:r>
          </a:p>
          <a:p>
            <a:pPr algn="l" marL="594434" indent="-297217" lvl="1">
              <a:lnSpc>
                <a:spcPts val="6277"/>
              </a:lnSpc>
              <a:buFont typeface="Arial"/>
              <a:buChar char="•"/>
            </a:pPr>
            <a:r>
              <a:rPr lang="en-US" sz="2753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Evitar duplicación de datos</a:t>
            </a:r>
          </a:p>
          <a:p>
            <a:pPr algn="l" marL="594434" indent="-297217" lvl="1">
              <a:lnSpc>
                <a:spcPts val="6277"/>
              </a:lnSpc>
              <a:buFont typeface="Arial"/>
              <a:buChar char="•"/>
            </a:pPr>
            <a:r>
              <a:rPr lang="en-US" sz="2753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Facilitar consultas y reportes</a:t>
            </a:r>
          </a:p>
          <a:p>
            <a:pPr algn="l">
              <a:lnSpc>
                <a:spcPts val="6277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163149" y="7516041"/>
            <a:ext cx="8340304" cy="8340304"/>
          </a:xfrm>
          <a:custGeom>
            <a:avLst/>
            <a:gdLst/>
            <a:ahLst/>
            <a:cxnLst/>
            <a:rect r="r" b="b" t="t" l="l"/>
            <a:pathLst>
              <a:path h="8340304" w="8340304">
                <a:moveTo>
                  <a:pt x="0" y="0"/>
                </a:moveTo>
                <a:lnTo>
                  <a:pt x="8340304" y="0"/>
                </a:lnTo>
                <a:lnTo>
                  <a:pt x="8340304" y="8340304"/>
                </a:lnTo>
                <a:lnTo>
                  <a:pt x="0" y="83403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7426" y="7349103"/>
            <a:ext cx="2874575" cy="2874575"/>
          </a:xfrm>
          <a:custGeom>
            <a:avLst/>
            <a:gdLst/>
            <a:ahLst/>
            <a:cxnLst/>
            <a:rect r="r" b="b" t="t" l="l"/>
            <a:pathLst>
              <a:path h="2874575" w="2874575">
                <a:moveTo>
                  <a:pt x="0" y="0"/>
                </a:moveTo>
                <a:lnTo>
                  <a:pt x="2874575" y="0"/>
                </a:lnTo>
                <a:lnTo>
                  <a:pt x="2874575" y="2874574"/>
                </a:lnTo>
                <a:lnTo>
                  <a:pt x="0" y="2874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71654" y="7412425"/>
            <a:ext cx="2874575" cy="2874575"/>
          </a:xfrm>
          <a:custGeom>
            <a:avLst/>
            <a:gdLst/>
            <a:ahLst/>
            <a:cxnLst/>
            <a:rect r="r" b="b" t="t" l="l"/>
            <a:pathLst>
              <a:path h="2874575" w="2874575">
                <a:moveTo>
                  <a:pt x="0" y="0"/>
                </a:moveTo>
                <a:lnTo>
                  <a:pt x="2874575" y="0"/>
                </a:lnTo>
                <a:lnTo>
                  <a:pt x="2874575" y="2874575"/>
                </a:lnTo>
                <a:lnTo>
                  <a:pt x="0" y="2874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50991" y="1882662"/>
            <a:ext cx="5246370" cy="524637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blipFill>
              <a:blip r:embed="rId4"/>
              <a:stretch>
                <a:fillRect l="-37352" t="0" r="-3735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615124" y="1981204"/>
            <a:ext cx="5246370" cy="524637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blipFill>
              <a:blip r:embed="rId4"/>
              <a:stretch>
                <a:fillRect l="-37352" t="0" r="-3735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40129" y="2102733"/>
            <a:ext cx="5246370" cy="524637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blipFill>
              <a:blip r:embed="rId4"/>
              <a:stretch>
                <a:fillRect l="-37352" t="0" r="-37352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706713" y="7320920"/>
            <a:ext cx="2874575" cy="2874575"/>
          </a:xfrm>
          <a:custGeom>
            <a:avLst/>
            <a:gdLst/>
            <a:ahLst/>
            <a:cxnLst/>
            <a:rect r="r" b="b" t="t" l="l"/>
            <a:pathLst>
              <a:path h="2874575" w="2874575">
                <a:moveTo>
                  <a:pt x="0" y="0"/>
                </a:moveTo>
                <a:lnTo>
                  <a:pt x="2874574" y="0"/>
                </a:lnTo>
                <a:lnTo>
                  <a:pt x="2874574" y="2874574"/>
                </a:lnTo>
                <a:lnTo>
                  <a:pt x="0" y="2874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947804" y="520677"/>
            <a:ext cx="2340196" cy="1361985"/>
          </a:xfrm>
          <a:custGeom>
            <a:avLst/>
            <a:gdLst/>
            <a:ahLst/>
            <a:cxnLst/>
            <a:rect r="r" b="b" t="t" l="l"/>
            <a:pathLst>
              <a:path h="1361985" w="2340196">
                <a:moveTo>
                  <a:pt x="0" y="0"/>
                </a:moveTo>
                <a:lnTo>
                  <a:pt x="2340196" y="0"/>
                </a:lnTo>
                <a:lnTo>
                  <a:pt x="2340196" y="1361985"/>
                </a:lnTo>
                <a:lnTo>
                  <a:pt x="0" y="13619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079426" y="520677"/>
            <a:ext cx="10829516" cy="1919929"/>
          </a:xfrm>
          <a:custGeom>
            <a:avLst/>
            <a:gdLst/>
            <a:ahLst/>
            <a:cxnLst/>
            <a:rect r="r" b="b" t="t" l="l"/>
            <a:pathLst>
              <a:path h="1919929" w="10829516">
                <a:moveTo>
                  <a:pt x="0" y="0"/>
                </a:moveTo>
                <a:lnTo>
                  <a:pt x="10829515" y="0"/>
                </a:lnTo>
                <a:lnTo>
                  <a:pt x="10829515" y="1919929"/>
                </a:lnTo>
                <a:lnTo>
                  <a:pt x="0" y="19199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0000"/>
            </a:blip>
            <a:stretch>
              <a:fillRect l="0" t="-82187" r="0" b="-13509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105162" y="7568160"/>
            <a:ext cx="2148990" cy="2380093"/>
          </a:xfrm>
          <a:custGeom>
            <a:avLst/>
            <a:gdLst/>
            <a:ahLst/>
            <a:cxnLst/>
            <a:rect r="r" b="b" t="t" l="l"/>
            <a:pathLst>
              <a:path h="2380093" w="2148990">
                <a:moveTo>
                  <a:pt x="0" y="0"/>
                </a:moveTo>
                <a:lnTo>
                  <a:pt x="2148991" y="0"/>
                </a:lnTo>
                <a:lnTo>
                  <a:pt x="2148991" y="2380093"/>
                </a:lnTo>
                <a:lnTo>
                  <a:pt x="0" y="23800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68535" y="7558007"/>
            <a:ext cx="2914302" cy="2390246"/>
          </a:xfrm>
          <a:custGeom>
            <a:avLst/>
            <a:gdLst/>
            <a:ahLst/>
            <a:cxnLst/>
            <a:rect r="r" b="b" t="t" l="l"/>
            <a:pathLst>
              <a:path h="2390246" w="2914302">
                <a:moveTo>
                  <a:pt x="0" y="0"/>
                </a:moveTo>
                <a:lnTo>
                  <a:pt x="2914303" y="0"/>
                </a:lnTo>
                <a:lnTo>
                  <a:pt x="2914303" y="2390246"/>
                </a:lnTo>
                <a:lnTo>
                  <a:pt x="0" y="23902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0" y="3887757"/>
            <a:ext cx="5236029" cy="1176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8"/>
              </a:lnSpc>
            </a:pPr>
            <a:r>
              <a:rPr lang="en-US" sz="3200" spc="182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ALUMNO -&gt;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INSCRIPCIÓN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36630" y="942979"/>
            <a:ext cx="1425336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Relaciones entre los datos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1856" y="7598623"/>
            <a:ext cx="2085716" cy="230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1599" b="true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 alumno</a:t>
            </a:r>
          </a:p>
          <a:p>
            <a:pPr algn="ctr">
              <a:lnSpc>
                <a:spcPts val="2639"/>
              </a:lnSpc>
            </a:pPr>
            <a:r>
              <a:rPr lang="en-US" sz="1599" b="true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puede tener </a:t>
            </a:r>
          </a:p>
          <a:p>
            <a:pPr algn="ctr">
              <a:lnSpc>
                <a:spcPts val="2639"/>
              </a:lnSpc>
            </a:pPr>
            <a:r>
              <a:rPr lang="en-US" sz="1599" b="true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varias inscripciones</a:t>
            </a:r>
          </a:p>
          <a:p>
            <a:pPr algn="ctr">
              <a:lnSpc>
                <a:spcPts val="2639"/>
              </a:lnSpc>
            </a:pPr>
            <a:r>
              <a:rPr lang="en-US" b="true" sz="1599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cada alumno le pertenece  una inscripcion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25986" y="3887757"/>
            <a:ext cx="5236029" cy="1176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8"/>
              </a:lnSpc>
            </a:pPr>
            <a:r>
              <a:rPr lang="en-US" sz="3200" spc="182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CURSO -&gt;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INSCRIPCIÓN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39773" y="7828633"/>
            <a:ext cx="1808453" cy="197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1599" b="true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  curso puede tener muchos alumnos.</a:t>
            </a:r>
          </a:p>
          <a:p>
            <a:pPr algn="ctr">
              <a:lnSpc>
                <a:spcPts val="2639"/>
              </a:lnSpc>
            </a:pPr>
            <a:r>
              <a:rPr lang="en-US" b="true" sz="1599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cada curso le pertenece una inscripcion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05537" y="7828633"/>
            <a:ext cx="1606808" cy="197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1599" b="true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 docente puede impartir varios cursos.</a:t>
            </a:r>
          </a:p>
          <a:p>
            <a:pPr algn="ctr">
              <a:lnSpc>
                <a:spcPts val="2639"/>
              </a:lnSpc>
            </a:pPr>
            <a:r>
              <a:rPr lang="en-US" b="true" sz="1599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 Cada curso le pertenece a un docente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86499" y="3405378"/>
            <a:ext cx="5236029" cy="1738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8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DOCENTE -&gt;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CURSO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7328" y="520677"/>
            <a:ext cx="2340196" cy="1361985"/>
          </a:xfrm>
          <a:custGeom>
            <a:avLst/>
            <a:gdLst/>
            <a:ahLst/>
            <a:cxnLst/>
            <a:rect r="r" b="b" t="t" l="l"/>
            <a:pathLst>
              <a:path h="1361985" w="2340196">
                <a:moveTo>
                  <a:pt x="0" y="0"/>
                </a:moveTo>
                <a:lnTo>
                  <a:pt x="2340196" y="0"/>
                </a:lnTo>
                <a:lnTo>
                  <a:pt x="2340196" y="1361985"/>
                </a:lnTo>
                <a:lnTo>
                  <a:pt x="0" y="13619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765736"/>
            <a:ext cx="9399844" cy="1042528"/>
          </a:xfrm>
          <a:custGeom>
            <a:avLst/>
            <a:gdLst/>
            <a:ahLst/>
            <a:cxnLst/>
            <a:rect r="r" b="b" t="t" l="l"/>
            <a:pathLst>
              <a:path h="1042528" w="9399844">
                <a:moveTo>
                  <a:pt x="0" y="0"/>
                </a:moveTo>
                <a:lnTo>
                  <a:pt x="9399844" y="0"/>
                </a:lnTo>
                <a:lnTo>
                  <a:pt x="9399844" y="1042528"/>
                </a:lnTo>
                <a:lnTo>
                  <a:pt x="0" y="1042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4107448"/>
            <a:ext cx="20140619" cy="20140619"/>
          </a:xfrm>
          <a:custGeom>
            <a:avLst/>
            <a:gdLst/>
            <a:ahLst/>
            <a:cxnLst/>
            <a:rect r="r" b="b" t="t" l="l"/>
            <a:pathLst>
              <a:path h="20140619" w="20140619">
                <a:moveTo>
                  <a:pt x="0" y="0"/>
                </a:moveTo>
                <a:lnTo>
                  <a:pt x="20140619" y="0"/>
                </a:lnTo>
                <a:lnTo>
                  <a:pt x="20140619" y="20140619"/>
                </a:lnTo>
                <a:lnTo>
                  <a:pt x="0" y="20140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0" y="1421537"/>
          <a:ext cx="9900012" cy="8586000"/>
        </p:xfrm>
        <a:graphic>
          <a:graphicData uri="http://schemas.openxmlformats.org/drawingml/2006/table">
            <a:tbl>
              <a:tblPr/>
              <a:tblGrid>
                <a:gridCol w="1013551"/>
                <a:gridCol w="3851528"/>
                <a:gridCol w="5034933"/>
              </a:tblGrid>
              <a:tr h="736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#Nro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Consulta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Para que sirve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1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Alumnos inscritos por curso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Ver la lista completa de quien esta </a:t>
                      </a:r>
                      <a:endParaRPr lang="en-US" sz="1100"/>
                    </a:p>
                    <a:p>
                      <a:pPr algn="just">
                        <a:lnSpc>
                          <a:spcPts val="2239"/>
                        </a:lnSpc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en cada curso, incluyendo nombre, </a:t>
                      </a:r>
                    </a:p>
                    <a:p>
                      <a:pPr algn="just">
                        <a:lnSpc>
                          <a:spcPts val="2239"/>
                        </a:lnSpc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carrera y datos de contacto.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1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Cupos disponibles por curso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Calcular cupo_maximo menos </a:t>
                      </a:r>
                      <a:endParaRPr lang="en-US" sz="1100"/>
                    </a:p>
                    <a:p>
                      <a:pPr algn="just">
                        <a:lnSpc>
                          <a:spcPts val="2239"/>
                        </a:lnSpc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inscritos activos para saber si hay </a:t>
                      </a:r>
                    </a:p>
                    <a:p>
                      <a:pPr algn="just">
                        <a:lnSpc>
                          <a:spcPts val="2239"/>
                        </a:lnSpc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lugar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0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Cursos con mayor demanda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Ordenar cursos por numero de </a:t>
                      </a:r>
                      <a:endParaRPr lang="en-US" sz="1100"/>
                    </a:p>
                    <a:p>
                      <a:pPr algn="just">
                        <a:lnSpc>
                          <a:spcPts val="2239"/>
                        </a:lnSpc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inscritos para identificar los mas </a:t>
                      </a:r>
                    </a:p>
                    <a:p>
                      <a:pPr algn="just">
                        <a:lnSpc>
                          <a:spcPts val="2239"/>
                        </a:lnSpc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populares </a:t>
                      </a:r>
                    </a:p>
                    <a:p>
                      <a:pPr algn="just">
                        <a:lnSpc>
                          <a:spcPts val="22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1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Cursos asignados por docente 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Muestra todos los cursos a cargo </a:t>
                      </a:r>
                      <a:endParaRPr lang="en-US" sz="1100"/>
                    </a:p>
                    <a:p>
                      <a:pPr algn="just">
                        <a:lnSpc>
                          <a:spcPts val="2239"/>
                        </a:lnSpc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de cada docente, con horarios y </a:t>
                      </a:r>
                    </a:p>
                    <a:p>
                      <a:pPr algn="just">
                        <a:lnSpc>
                          <a:spcPts val="2239"/>
                        </a:lnSpc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número de alumnos inscritos.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1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Alumnos inscritos por carrera 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Identificar que carreras tienen mas </a:t>
                      </a:r>
                      <a:endParaRPr lang="en-US" sz="1100"/>
                    </a:p>
                    <a:p>
                      <a:pPr algn="just">
                        <a:lnSpc>
                          <a:spcPts val="2239"/>
                        </a:lnSpc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participación en cursos </a:t>
                      </a:r>
                    </a:p>
                    <a:p>
                      <a:pPr algn="just">
                        <a:lnSpc>
                          <a:spcPts val="2239"/>
                        </a:lnSpc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extracurriculares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38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Cursos llenos (sin cupo)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Listar cursos que ya alcanzaron su </a:t>
                      </a:r>
                      <a:endParaRPr lang="en-US" sz="1100"/>
                    </a:p>
                    <a:p>
                      <a:pPr algn="just">
                        <a:lnSpc>
                          <a:spcPts val="2239"/>
                        </a:lnSpc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limite para cerrar inscripciones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12230472" y="7488686"/>
            <a:ext cx="3908785" cy="3539228"/>
          </a:xfrm>
          <a:custGeom>
            <a:avLst/>
            <a:gdLst/>
            <a:ahLst/>
            <a:cxnLst/>
            <a:rect r="r" b="b" t="t" l="l"/>
            <a:pathLst>
              <a:path h="3539228" w="3908785">
                <a:moveTo>
                  <a:pt x="0" y="0"/>
                </a:moveTo>
                <a:lnTo>
                  <a:pt x="3908785" y="0"/>
                </a:lnTo>
                <a:lnTo>
                  <a:pt x="3908785" y="3539228"/>
                </a:lnTo>
                <a:lnTo>
                  <a:pt x="0" y="35392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8944" y="476250"/>
            <a:ext cx="7150576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0"/>
              </a:lnSpc>
            </a:pPr>
            <a:r>
              <a:rPr lang="en-US" sz="6000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-Consultas útiles 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72578" y="1345337"/>
            <a:ext cx="7444802" cy="5173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3"/>
              </a:lnSpc>
            </a:pPr>
          </a:p>
          <a:p>
            <a:pPr algn="just">
              <a:lnSpc>
                <a:spcPts val="2993"/>
              </a:lnSpc>
            </a:pPr>
          </a:p>
          <a:p>
            <a:pPr algn="just">
              <a:lnSpc>
                <a:spcPts val="2993"/>
              </a:lnSpc>
            </a:pPr>
          </a:p>
          <a:p>
            <a:pPr algn="just">
              <a:lnSpc>
                <a:spcPts val="2993"/>
              </a:lnSpc>
            </a:pPr>
            <a:r>
              <a:rPr lang="en-US" sz="1814" b="true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  ha concluido el analisis en donde para llegar a ello </a:t>
            </a:r>
          </a:p>
          <a:p>
            <a:pPr algn="just">
              <a:lnSpc>
                <a:spcPts val="2993"/>
              </a:lnSpc>
            </a:pPr>
            <a:r>
              <a:rPr lang="en-US" sz="1814" b="true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 evaluo lo siguiente:</a:t>
            </a:r>
          </a:p>
          <a:p>
            <a:pPr algn="l" marL="391671" indent="-195835" lvl="1">
              <a:lnSpc>
                <a:spcPts val="2993"/>
              </a:lnSpc>
              <a:buFont typeface="Arial"/>
              <a:buChar char="•"/>
            </a:pPr>
            <a:r>
              <a:rPr lang="en-US" b="true" sz="1814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Quien usa el sistema, qué datos necesita, cómo se conectan </a:t>
            </a:r>
            <a:r>
              <a:rPr lang="en-US" b="true" sz="1814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entre sí </a:t>
            </a:r>
          </a:p>
          <a:p>
            <a:pPr algn="l" marL="391671" indent="-195835" lvl="1">
              <a:lnSpc>
                <a:spcPts val="2993"/>
              </a:lnSpc>
              <a:buFont typeface="Arial"/>
              <a:buChar char="•"/>
            </a:pPr>
            <a:r>
              <a:rPr lang="en-US" b="true" sz="1814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Qué problemas concretos tiene que resolver, la necesidad a cubrir.</a:t>
            </a:r>
          </a:p>
          <a:p>
            <a:pPr algn="just">
              <a:lnSpc>
                <a:spcPts val="2993"/>
              </a:lnSpc>
            </a:pPr>
          </a:p>
          <a:p>
            <a:pPr algn="l">
              <a:lnSpc>
                <a:spcPts val="2993"/>
              </a:lnSpc>
            </a:pPr>
            <a:r>
              <a:rPr lang="en-US" sz="1814" b="true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</a:t>
            </a:r>
            <a:r>
              <a:rPr lang="en-US" sz="1814" b="true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base de datos organiza la información</a:t>
            </a:r>
          </a:p>
          <a:p>
            <a:pPr algn="just">
              <a:lnSpc>
                <a:spcPts val="2993"/>
              </a:lnSpc>
            </a:pPr>
          </a:p>
          <a:p>
            <a:pPr algn="just">
              <a:lnSpc>
                <a:spcPts val="2993"/>
              </a:lnSpc>
            </a:pPr>
            <a:r>
              <a:rPr lang="en-US" b="true" sz="1814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</a:t>
            </a:r>
            <a:r>
              <a:rPr lang="en-US" b="true" sz="1814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Evita errores en inscripciones</a:t>
            </a:r>
          </a:p>
          <a:p>
            <a:pPr algn="just">
              <a:lnSpc>
                <a:spcPts val="2993"/>
              </a:lnSpc>
            </a:pPr>
            <a:r>
              <a:rPr lang="en-US" b="true" sz="1814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 </a:t>
            </a:r>
            <a:r>
              <a:rPr lang="en-US" b="true" sz="1814">
                <a:solidFill>
                  <a:srgbClr val="291B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Mejora el control de cursos y alumnos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98009" y="1383030"/>
            <a:ext cx="7150576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0"/>
              </a:lnSpc>
            </a:pPr>
            <a:r>
              <a:rPr lang="en-US" sz="6000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Conclusión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30282" y="1028700"/>
            <a:ext cx="7827435" cy="7827435"/>
          </a:xfrm>
          <a:custGeom>
            <a:avLst/>
            <a:gdLst/>
            <a:ahLst/>
            <a:cxnLst/>
            <a:rect r="r" b="b" t="t" l="l"/>
            <a:pathLst>
              <a:path h="7827435" w="7827435">
                <a:moveTo>
                  <a:pt x="0" y="0"/>
                </a:moveTo>
                <a:lnTo>
                  <a:pt x="7827436" y="0"/>
                </a:lnTo>
                <a:lnTo>
                  <a:pt x="7827436" y="7827435"/>
                </a:lnTo>
                <a:lnTo>
                  <a:pt x="0" y="7827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62077" y="6176922"/>
            <a:ext cx="5147012" cy="570850"/>
          </a:xfrm>
          <a:custGeom>
            <a:avLst/>
            <a:gdLst/>
            <a:ahLst/>
            <a:cxnLst/>
            <a:rect r="r" b="b" t="t" l="l"/>
            <a:pathLst>
              <a:path h="570850" w="5147012">
                <a:moveTo>
                  <a:pt x="0" y="0"/>
                </a:moveTo>
                <a:lnTo>
                  <a:pt x="5147013" y="0"/>
                </a:lnTo>
                <a:lnTo>
                  <a:pt x="5147013" y="570850"/>
                </a:lnTo>
                <a:lnTo>
                  <a:pt x="0" y="57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86423">
            <a:off x="-824852" y="5960670"/>
            <a:ext cx="3707104" cy="2096199"/>
          </a:xfrm>
          <a:custGeom>
            <a:avLst/>
            <a:gdLst/>
            <a:ahLst/>
            <a:cxnLst/>
            <a:rect r="r" b="b" t="t" l="l"/>
            <a:pathLst>
              <a:path h="2096199" w="3707104">
                <a:moveTo>
                  <a:pt x="0" y="0"/>
                </a:moveTo>
                <a:lnTo>
                  <a:pt x="3707104" y="0"/>
                </a:lnTo>
                <a:lnTo>
                  <a:pt x="3707104" y="2096199"/>
                </a:lnTo>
                <a:lnTo>
                  <a:pt x="0" y="2096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650626">
            <a:off x="13393263" y="5559703"/>
            <a:ext cx="5784868" cy="5237935"/>
          </a:xfrm>
          <a:custGeom>
            <a:avLst/>
            <a:gdLst/>
            <a:ahLst/>
            <a:cxnLst/>
            <a:rect r="r" b="b" t="t" l="l"/>
            <a:pathLst>
              <a:path h="5237935" w="5784868">
                <a:moveTo>
                  <a:pt x="0" y="0"/>
                </a:moveTo>
                <a:lnTo>
                  <a:pt x="5784868" y="0"/>
                </a:lnTo>
                <a:lnTo>
                  <a:pt x="5784868" y="5237935"/>
                </a:lnTo>
                <a:lnTo>
                  <a:pt x="0" y="52379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7366" y="6908613"/>
            <a:ext cx="4039985" cy="4114800"/>
          </a:xfrm>
          <a:custGeom>
            <a:avLst/>
            <a:gdLst/>
            <a:ahLst/>
            <a:cxnLst/>
            <a:rect r="r" b="b" t="t" l="l"/>
            <a:pathLst>
              <a:path h="4114800" w="4039985">
                <a:moveTo>
                  <a:pt x="0" y="0"/>
                </a:moveTo>
                <a:lnTo>
                  <a:pt x="4039985" y="0"/>
                </a:lnTo>
                <a:lnTo>
                  <a:pt x="40399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79570" y="1742504"/>
            <a:ext cx="4887290" cy="4665141"/>
          </a:xfrm>
          <a:custGeom>
            <a:avLst/>
            <a:gdLst/>
            <a:ahLst/>
            <a:cxnLst/>
            <a:rect r="r" b="b" t="t" l="l"/>
            <a:pathLst>
              <a:path h="4665141" w="4887290">
                <a:moveTo>
                  <a:pt x="0" y="0"/>
                </a:moveTo>
                <a:lnTo>
                  <a:pt x="4887290" y="0"/>
                </a:lnTo>
                <a:lnTo>
                  <a:pt x="4887290" y="4665141"/>
                </a:lnTo>
                <a:lnTo>
                  <a:pt x="0" y="46651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45671">
            <a:off x="-1497126" y="1833423"/>
            <a:ext cx="5051652" cy="4114800"/>
          </a:xfrm>
          <a:custGeom>
            <a:avLst/>
            <a:gdLst/>
            <a:ahLst/>
            <a:cxnLst/>
            <a:rect r="r" b="b" t="t" l="l"/>
            <a:pathLst>
              <a:path h="4114800" w="5051652">
                <a:moveTo>
                  <a:pt x="0" y="0"/>
                </a:moveTo>
                <a:lnTo>
                  <a:pt x="5051652" y="0"/>
                </a:lnTo>
                <a:lnTo>
                  <a:pt x="5051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97394" y="4341775"/>
            <a:ext cx="9893213" cy="1467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63"/>
              </a:lnSpc>
            </a:pPr>
            <a:r>
              <a:rPr lang="en-US" sz="11435" spc="-194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Gracias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DAHKLrpkPBo</dc:identifier>
  <dcterms:modified xsi:type="dcterms:W3CDTF">2011-08-01T06:04:30Z</dcterms:modified>
  <cp:revision>1</cp:revision>
  <dc:title>caso 4:sestema de cursos extracurriculares </dc:title>
</cp:coreProperties>
</file>